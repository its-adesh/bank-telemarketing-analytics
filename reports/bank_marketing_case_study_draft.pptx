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Slides/_rels/notesSlide1.xml.rels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Portfolio case study based on my customer segmentation and subscription prediction notebooks. This analysis uses historical data. I have not run a live campaign. AI tools supported code development, debugging and documentation, as disclosed in the notebooks.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Classification.ipynb, train/test split and classification reports. 36,168 training records plus 9,043 test records = 45,211. Subscribers: 4,231 training plus 1,058 test = 5,289, approximately 11.7%. These are records, not a verified count of distinct people. Call duration was excluded. The workbook includes additional rate fields whose provenance needs separate checking before deployment.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CLUSTERING.ipynb, Cluster_5 summary. Rates: 0.226637, 0.087885, 0.095940, 0.150735, 0.153224. Shares: 0.139170, 0.450753, 0.295791, 0.024065, 0.090221. Five clusters had the highest silhouette score among k=2 through 10, approximately 0.17. Outcome y was excluded from clustering. The group differences describe historical associations, not campaign lift.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Classification.ipynb, saved test outputs. Table shows the five initial models plus weighted LightGBM, not every weighted variant. Precision, recall and F1 refer to subscriber class. Figures rounded from notebook. Test support: 7,985 non-subscribers and 1,058 subscribers. No claim that weighted LightGBM is universally best.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Classification.ipynb confusion matrices on the same 9,043-record test set. Standard LightGBM TN=7,861 FP=124 FN=838 TP=220. Weighted TN=6,630 FP=1,355 FN=417 TP=641. Exact subscriber recall: 20.79% and 60.59%; precision 63.95% and 32.11%. These are predictions, not outcomes from a new campaign. Model thresholds and contact economics require testing.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Classification.ipynb, SHAP summary on a sample of up to 1,000 test records, random_state=42. Image extracted from saved notebook. Rightward SHAP values push the model towards subscription; leftward values push it away. These reflect model associations, not causal effects. Int.Rate09 is the workbook field name. Its source and time alignment require confirmation before operational use.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Proposed future experiment, not completed work. Define a comparable eligible population and randomly allocate records to targeting-policy arms. Keep contact budget, offer, timing and measurement window consistent. Compare total subscriptions under equal budgets and cost per subscription; also report conversion among contacted customers. Agree success threshold and sample size before launch. Revenue/ROI require measured subscription value and campaign cost.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Summary of findings and proposed actions. Source notebooks and documentation: https://github.com/its-adesh/bank-telemarketing-analytics . Limitations: historical random holdout, no later-period validation, modest cluster separation, no live campaign or measured financial return. Next work includes confirming added rate-field definitions/time alignment and verifying full reproducibility with the original workbook. This is a portfolio case study, not a deployed banking product.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1000" y="9525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050" b="0">
                <a:solidFill>
                  <a:srgbClr val="152D3B"/>
                </a:solidFill>
                <a:latin typeface="Arial"/>
              </a:rPr>
              <a:t>Source: Classification.ipynb weighted LightGBM ROC-AUC output 0.7752. Notebook chart rounds to 0.78. Evaluated on the 9,043-record holdout test set. AUC is a ranking measure across thresholds; it does not show campaign profit or prescribe a contact threshold.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15" Type="http://schemas.openxmlformats.org/officeDocument/2006/relationships/image" Target="../media/image6_5.png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15" Type="http://schemas.openxmlformats.org/officeDocument/2006/relationships/image" Target="../media/image9_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Bank Telemarketing</a:t>
            </a:r>
            <a:endParaRPr/>
          </a:p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Analytics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01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609600" y="2428875"/>
            <a:ext cx="9715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0">
                <a:solidFill>
                  <a:srgbClr val="087F83"/>
                </a:solidFill>
                <a:latin typeface="Arial"/>
              </a:rPr>
              <a:t>Customer segmentation and subscription prediction</a:t>
            </a:r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609600" y="3476625"/>
            <a:ext cx="92392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0">
                <a:solidFill>
                  <a:srgbClr val="152D3B"/>
                </a:solidFill>
                <a:latin typeface="Arial"/>
              </a:rPr>
              <a:t>I explored which customer groups subscribed more often and how prediction models could support campaign planning.</a:t>
            </a:r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609600" y="5524500"/>
            <a:ext cx="6667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Business analytics case study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09600" y="5953125"/>
            <a:ext cx="99060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500" b="0">
                <a:solidFill>
                  <a:srgbClr val="087F83"/>
                </a:solidFill>
                <a:latin typeface="Arial"/>
              </a:rPr>
              <a:t>github.com/its-adesh/bank-telemarketing-analytics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The campaign planning question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How could the bank use customer data to prioritise outreach?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02</a:t>
            </a:r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609600" y="2381250"/>
            <a:ext cx="48577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5100" b="1">
                <a:solidFill>
                  <a:srgbClr val="087F83"/>
                </a:solidFill>
                <a:latin typeface="Arial"/>
              </a:rPr>
              <a:t>45,211</a:t>
            </a:r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609600" y="3267075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>records in the analysis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762750" y="2381250"/>
            <a:ext cx="48577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5100" b="1">
                <a:solidFill>
                  <a:srgbClr val="087F83"/>
                </a:solidFill>
                <a:latin typeface="Arial"/>
              </a:rPr>
              <a:t>11.7%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762750" y="3267075"/>
            <a:ext cx="4857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>subscribed to a term deposit</a:t>
            </a:r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609600" y="4238625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0">
                <a:solidFill>
                  <a:srgbClr val="152D3B"/>
                </a:solidFill>
                <a:latin typeface="Arial"/>
              </a:rPr>
              <a:t>I used customer groups to explore patterns, then compared models to predict subscriptions.</a:t>
            </a:r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609600" y="5391150"/>
            <a:ext cx="10572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00" b="0">
                <a:solidFill>
                  <a:srgbClr val="50616B"/>
                </a:solidFill>
                <a:latin typeface="Arial"/>
              </a:rPr>
              <a:t>I held out 20% of the data for testing and excluded call duration from the inputs.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Cluster 0 had the highest subscription rate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The largest customer group had the lowest rate.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03</a:t>
            </a:r>
            <a:endParaRPr/>
          </a:p>
        </p:txBody>
      </p:sp>
      <p:graphicFrame>
        <p:nvGraphicFramePr>
          <p:cNvPr id="5" name="Editable results table"/>
          <p:cNvGraphicFramePr/>
          <p:nvPr/>
        </p:nvGraphicFramePr>
        <p:xfrm>
          <a:off x="609600" y="2276475"/>
          <a:ext cx="6096000" cy="3200400"/>
        </p:xfrm>
        <a:graphic>
          <a:graphicData uri="http://schemas.openxmlformats.org/drawingml/2006/table">
            <a:tbl>
              <a:tblPr firstRow="1"/>
              <a:tblGrid>
                <a:gridCol w="1714500"/>
                <a:gridCol w="2095500"/>
                <a:gridCol w="22860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Customer share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Subscription rate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Cluster 0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13.9%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22.7%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Cluster 1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45.1%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8.8%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Cluster 2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29.6%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9.6%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Cluster 3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2.4%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15.1%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Cluster 4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9.0%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15.3%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7372350" y="2428875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325" b="1">
                <a:solidFill>
                  <a:srgbClr val="087F83"/>
                </a:solidFill>
                <a:latin typeface="Arial"/>
              </a:rPr>
              <a:t>A group worth testing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7372350" y="3286125"/>
            <a:ext cx="4048125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025" b="0">
                <a:solidFill>
                  <a:srgbClr val="152D3B"/>
                </a:solidFill>
                <a:latin typeface="Arial"/>
              </a:rPr>
              <a:t>I would explore Cluster 0 in a small outreach test before expanding the campaign.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09600" y="5734050"/>
            <a:ext cx="10858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The groups overlap. A silhouette score of 0.17 supports treating them as broad profiles.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Accuracy alone missed the main problem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Predicting “no” for everyone would achieve about 88.3% accuracy.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04</a:t>
            </a:r>
            <a:endParaRPr/>
          </a:p>
        </p:txBody>
      </p:sp>
      <p:graphicFrame>
        <p:nvGraphicFramePr>
          <p:cNvPr id="5" name="Editable results table"/>
          <p:cNvGraphicFramePr/>
          <p:nvPr/>
        </p:nvGraphicFramePr>
        <p:xfrm>
          <a:off x="609600" y="2247900"/>
          <a:ext cx="10763250" cy="3267075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1809750"/>
                <a:gridCol w="2000250"/>
                <a:gridCol w="1809750"/>
                <a:gridCol w="1714500"/>
              </a:tblGrid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Logistic Regression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89.4%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68%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18%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0.28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Random Forest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88.3%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50%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21%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0.29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Decision Tree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82.4%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28%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32%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0.30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XGBoost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89.0%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57%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23%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0.33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LightGBM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89.4%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64%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21%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0.31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Weighted LightGBM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80.4%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32%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61%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0.42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609600" y="5734050"/>
            <a:ext cx="1081087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00" b="0">
                <a:solidFill>
                  <a:srgbClr val="152D3B"/>
                </a:solidFill>
                <a:latin typeface="Arial"/>
              </a:rPr>
              <a:t>I compared subscriber precision and recall to understand the cost of missed subscribers and incorrect predictions.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More subscribers found, more false positives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Class weighting changed the balance of LightGBM predictions.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05</a:t>
            </a:r>
            <a:endParaRPr/>
          </a:p>
        </p:txBody>
      </p:sp>
      <p:graphicFrame>
        <p:nvGraphicFramePr>
          <p:cNvPr id="5" name="Editable results table"/>
          <p:cNvGraphicFramePr/>
          <p:nvPr/>
        </p:nvGraphicFramePr>
        <p:xfrm>
          <a:off x="609600" y="2276475"/>
          <a:ext cx="10763250" cy="2324100"/>
        </p:xfrm>
        <a:graphic>
          <a:graphicData uri="http://schemas.openxmlformats.org/drawingml/2006/table">
            <a:tbl>
              <a:tblPr firstRow="1"/>
              <a:tblGrid>
                <a:gridCol w="5429250"/>
                <a:gridCol w="2667000"/>
                <a:gridCol w="2667000"/>
              </a:tblGrid>
              <a:tr h="581025"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Test-set result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1">
                          <a:solidFill>
                            <a:srgbClr val="FFFFFF"/>
                          </a:solidFill>
                          <a:latin typeface="Arial"/>
                        </a:rPr>
                        <a:t>Weighted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152D3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Subscribers found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220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641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E7F1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Subscribers missed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838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417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Non-subscribers flagged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124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AU" sz="1725" b="0">
                          <a:solidFill>
                            <a:srgbClr val="152D3B"/>
                          </a:solidFill>
                          <a:latin typeface="Arial"/>
                        </a:rPr>
                        <a:t>1,355</a:t>
                      </a:r>
                      <a:endParaRPr/>
                    </a:p>
                  </a:txBody>
                  <a:tcPr marL="140000" marR="90000" marT="9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609600" y="5000625"/>
            <a:ext cx="50482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Recall: 21% to 61%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477000" y="5000625"/>
            <a:ext cx="50958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Precision: 64% to 32%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09600" y="5695950"/>
            <a:ext cx="107632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00" b="0">
                <a:solidFill>
                  <a:srgbClr val="152D3B"/>
                </a:solidFill>
                <a:latin typeface="Arial"/>
              </a:rPr>
              <a:t>I would choose the threshold around calling capacity and contact costs, then test its value in a campaign.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What influenced the predictions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SHAP helps explain the weighted LightGBM model.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06</a:t>
            </a:r>
            <a:endParaRPr/>
          </a:p>
        </p:txBody>
      </p:sp>
      <p:pic>
        <p:nvPicPr>
          <p:cNvPr id="5" name="image6_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2625" y="2076450"/>
            <a:ext cx="3467100" cy="406717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524750" y="2257425"/>
            <a:ext cx="3905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1">
                <a:solidFill>
                  <a:srgbClr val="087F83"/>
                </a:solidFill>
                <a:latin typeface="Arial"/>
              </a:rPr>
              <a:t>How to read the chart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7524750" y="3000375"/>
            <a:ext cx="390525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>Each dot represents a customer record.</a:t>
            </a:r>
            <a:endParaRPr/>
          </a:p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/>
            </a:r>
            <a:endParaRPr/>
          </a:p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>Right: pushes the prediction towards subscription.</a:t>
            </a:r>
            <a:endParaRPr/>
          </a:p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/>
            </a:r>
            <a:endParaRPr/>
          </a:p>
          <a:p>
            <a:pPr/>
            <a:r>
              <a:rPr lang="en-AU" sz="1875" b="0">
                <a:solidFill>
                  <a:srgbClr val="152D3B"/>
                </a:solidFill>
                <a:latin typeface="Arial"/>
              </a:rPr>
              <a:t>Left: pushes it away.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7524750" y="5524500"/>
            <a:ext cx="3905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575" b="0">
                <a:solidFill>
                  <a:srgbClr val="50616B"/>
                </a:solidFill>
                <a:latin typeface="Arial"/>
              </a:rPr>
              <a:t>These patterns explain the model. They do not establish cause and effect.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A small campaign test is the next step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I recommend comparing targeted outreach with the usual approach.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07</a:t>
            </a:r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609600" y="2305050"/>
            <a:ext cx="50958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1">
                <a:solidFill>
                  <a:srgbClr val="087F83"/>
                </a:solidFill>
                <a:latin typeface="Arial"/>
              </a:rPr>
              <a:t>01  Set the comparison</a:t>
            </a:r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609600" y="3019425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025" b="0">
                <a:solidFill>
                  <a:srgbClr val="152D3B"/>
                </a:solidFill>
                <a:latin typeface="Arial"/>
              </a:rPr>
              <a:t>Use comparable customer pools and equal contact budgets.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762750" y="2305050"/>
            <a:ext cx="4857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1">
                <a:solidFill>
                  <a:srgbClr val="087F83"/>
                </a:solidFill>
                <a:latin typeface="Arial"/>
              </a:rPr>
              <a:t>02  Run the test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762750" y="3019425"/>
            <a:ext cx="4714875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025" b="0">
                <a:solidFill>
                  <a:srgbClr val="152D3B"/>
                </a:solidFill>
                <a:latin typeface="Arial"/>
              </a:rPr>
              <a:t>Compare model-based targeting with the usual approach.</a:t>
            </a:r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609600" y="4419600"/>
            <a:ext cx="50958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1">
                <a:solidFill>
                  <a:srgbClr val="087F83"/>
                </a:solidFill>
                <a:latin typeface="Arial"/>
              </a:rPr>
              <a:t>03  Measure results</a:t>
            </a:r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609600" y="5133975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025" b="0">
                <a:solidFill>
                  <a:srgbClr val="152D3B"/>
                </a:solidFill>
                <a:latin typeface="Arial"/>
              </a:rPr>
              <a:t>Track subscriptions gained and cost per subscription.</a:t>
            </a:r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762750" y="4419600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250" b="1">
                <a:solidFill>
                  <a:srgbClr val="087F83"/>
                </a:solidFill>
                <a:latin typeface="Arial"/>
              </a:rPr>
              <a:t>04  Decide whether to expand</a:t>
            </a:r>
            <a:endParaRPr/>
          </a:p>
        </p:txBody>
      </p:sp>
      <p:sp>
        <p:nvSpPr>
          <p:cNvPr id="12" name="Text 12"/>
          <p:cNvSpPr txBox="1"/>
          <p:nvPr/>
        </p:nvSpPr>
        <p:spPr>
          <a:xfrm>
            <a:off x="6762750" y="5286375"/>
            <a:ext cx="4714875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025" b="0">
                <a:solidFill>
                  <a:srgbClr val="152D3B"/>
                </a:solidFill>
                <a:latin typeface="Arial"/>
              </a:rPr>
              <a:t>Expand only if the results meet the agreed business target.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My recommendation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The analysis supports a focused pilot before wider use.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08</a:t>
            </a:r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609600" y="2295525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Customer targeting</a:t>
            </a:r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5334000" y="2314575"/>
            <a:ext cx="6096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175" b="0">
                <a:solidFill>
                  <a:srgbClr val="152D3B"/>
                </a:solidFill>
                <a:latin typeface="Arial"/>
              </a:rPr>
              <a:t>Explore the group with the highest historical subscription rate.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09600" y="360045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Model selection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5334000" y="3619500"/>
            <a:ext cx="609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175" b="0">
                <a:solidFill>
                  <a:srgbClr val="152D3B"/>
                </a:solidFill>
                <a:latin typeface="Arial"/>
              </a:rPr>
              <a:t>Match the threshold to calling capacity and validate on newer data.</a:t>
            </a:r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609600" y="4905375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Business impact</a:t>
            </a:r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5334000" y="4924425"/>
            <a:ext cx="609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175" b="0">
                <a:solidFill>
                  <a:srgbClr val="152D3B"/>
                </a:solidFill>
                <a:latin typeface="Arial"/>
              </a:rPr>
              <a:t>Use the campaign test to measure value before claiming savings.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3150" b="1">
                <a:solidFill>
                  <a:srgbClr val="152D3B"/>
                </a:solidFill>
                <a:latin typeface="Arial"/>
              </a:rPr>
              <a:t>Supporting result: ROC curve</a:t>
            </a:r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609600" y="14573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650" b="0">
                <a:solidFill>
                  <a:srgbClr val="50616B"/>
                </a:solidFill>
                <a:latin typeface="Arial"/>
              </a:rPr>
              <a:t>Weighted LightGBM achieved a ROC-AUC score of 0.7752.</a:t>
            </a:r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11144250" y="63627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200" b="0">
                <a:solidFill>
                  <a:srgbClr val="50616B"/>
                </a:solidFill>
                <a:latin typeface="Arial"/>
              </a:rPr>
              <a:t>09</a:t>
            </a:r>
            <a:endParaRPr/>
          </a:p>
        </p:txBody>
      </p:sp>
      <p:pic>
        <p:nvPicPr>
          <p:cNvPr id="5" name="image9_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1600" y="2143125"/>
            <a:ext cx="3914775" cy="397192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6810375" y="2524125"/>
            <a:ext cx="4572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400" b="1">
                <a:solidFill>
                  <a:srgbClr val="087F83"/>
                </a:solidFill>
                <a:latin typeface="Arial"/>
              </a:rPr>
              <a:t>A measure of ranking quality</a:t>
            </a:r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810375" y="3505200"/>
            <a:ext cx="447675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2100" b="0">
                <a:solidFill>
                  <a:srgbClr val="152D3B"/>
                </a:solidFill>
                <a:latin typeface="Arial"/>
              </a:rPr>
              <a:t>The curve shows the balance between identifying subscribers and incorrectly flagging non-subscribers across thresholds.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810375" y="5448300"/>
            <a:ext cx="44767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AU" sz="1800" b="0">
                <a:solidFill>
                  <a:srgbClr val="50616B"/>
                </a:solidFill>
                <a:latin typeface="Arial"/>
              </a:rPr>
              <a:t>The business decision still depends on contact costs and capacity.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