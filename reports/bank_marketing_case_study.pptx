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510b6c7c-761e-1a23-fd26-d0318fb53518}">
          <p14:sldIdLst>
            <p14:sldId id="256"/>
            <p14:sldId id="257"/>
          </p14:sldIdLst>
        </p14:section>
        <p14:section name="Analysis" id="{3a93fffb-8d45-7164-b5b2-61f4586eaf77}">
          <p14:sldIdLst>
            <p14:sldId id="258"/>
            <p14:sldId id="259"/>
            <p14:sldId id="260"/>
            <p14:sldId id="261"/>
          </p14:sldIdLst>
        </p14:section>
        <p14:section name="Recommendation" id="{51e0b78c-5bf4-61ab-2426-037c3e1db304}">
          <p14:sldIdLst>
            <p14:sldId id="262"/>
            <p14:sldId id="263"/>
          </p14:sldIdLst>
        </p14:section>
        <p14:section name="Appendix" id="{1429e40a-cfef-0e7e-7f38-a6e218cc14b1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Term deposit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7F83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FDCD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Subscribed</c:v>
                </c:pt>
                <c:pt idx="1">
                  <c:v>Did not subscribe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11.7</c:v>
                </c:pt>
                <c:pt idx="1">
                  <c:v>88.3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52D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52D3B"/>
                </a:solidFill>
                <a:latin typeface="+mn-lt"/>
              </a:rPr>
              <a:t>Subscription rate (share of customers below)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 rate</c:v>
                </c:pt>
              </c:strCache>
            </c:strRef>
          </c:tx>
          <c:spPr>
            <a:solidFill>
              <a:srgbClr val="087F8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52D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7F8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C7C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C7C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C7C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C7C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Cluster 0
13.9%</c:v>
                  </c:pt>
                  <c:pt idx="1">
                    <c:v>Cluster 1
45.1%</c:v>
                  </c:pt>
                  <c:pt idx="2">
                    <c:v>Cluster 2
29.6%</c:v>
                  </c:pt>
                  <c:pt idx="3">
                    <c:v>Cluster 3
2.4%</c:v>
                  </c:pt>
                  <c:pt idx="4">
                    <c:v>Cluster 4
9.0%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22.7</c:v>
                </c:pt>
                <c:pt idx="1">
                  <c:v>8.8</c:v>
                </c:pt>
                <c:pt idx="2">
                  <c:v>9.6</c:v>
                </c:pt>
                <c:pt idx="3">
                  <c:v>15.1</c:v>
                </c:pt>
                <c:pt idx="4">
                  <c:v>15.3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52D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061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061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B8C7C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2D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Decision Tree</c:v>
                  </c:pt>
                  <c:pt idx="3">
                    <c:v>XGBoost</c:v>
                  </c:pt>
                  <c:pt idx="4">
                    <c:v>LightGBM</c:v>
                  </c:pt>
                  <c:pt idx="5">
                    <c:v>Weighted LightGBM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89.4</c:v>
                </c:pt>
                <c:pt idx="1">
                  <c:v>88.3</c:v>
                </c:pt>
                <c:pt idx="2">
                  <c:v>82.4</c:v>
                </c:pt>
                <c:pt idx="3">
                  <c:v>89</c:v>
                </c:pt>
                <c:pt idx="4">
                  <c:v>89.4</c:v>
                </c:pt>
                <c:pt idx="5">
                  <c:v>80.4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(subscribers found)</c:v>
                </c:pt>
              </c:strCache>
            </c:strRef>
          </c:tx>
          <c:spPr>
            <a:solidFill>
              <a:srgbClr val="087F8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2D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Decision Tree</c:v>
                  </c:pt>
                  <c:pt idx="3">
                    <c:v>XGBoost</c:v>
                  </c:pt>
                  <c:pt idx="4">
                    <c:v>LightGBM</c:v>
                  </c:pt>
                  <c:pt idx="5">
                    <c:v>Weighted LightGBM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</c:v>
                </c:pt>
                <c:pt idx="1">
                  <c:v>21</c:v>
                </c:pt>
                <c:pt idx="2">
                  <c:v>32</c:v>
                </c:pt>
                <c:pt idx="3">
                  <c:v>23</c:v>
                </c:pt>
                <c:pt idx="4">
                  <c:v>21</c:v>
                </c:pt>
                <c:pt idx="5">
                  <c:v>61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52D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061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061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</c:v>
                </c:pt>
              </c:strCache>
            </c:strRef>
          </c:tx>
          <c:spPr>
            <a:solidFill>
              <a:srgbClr val="B8C7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52D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Subscribers found</c:v>
                  </c:pt>
                  <c:pt idx="1">
                    <c:v>Subscribers missed</c:v>
                  </c:pt>
                  <c:pt idx="2">
                    <c:v>Non-subscribers flagged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</c:v>
                </c:pt>
                <c:pt idx="1">
                  <c:v>838</c:v>
                </c:pt>
                <c:pt idx="2">
                  <c:v>124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Weighted</c:v>
                </c:pt>
              </c:strCache>
            </c:strRef>
          </c:tx>
          <c:spPr>
            <a:solidFill>
              <a:srgbClr val="087F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52D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Subscribers found</c:v>
                  </c:pt>
                  <c:pt idx="1">
                    <c:v>Subscribers missed</c:v>
                  </c:pt>
                  <c:pt idx="2">
                    <c:v>Non-subscribers flagged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641</c:v>
                </c:pt>
                <c:pt idx="1">
                  <c:v>417</c:v>
                </c:pt>
                <c:pt idx="2">
                  <c:v>1355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52D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061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061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cluster table: Cluster 0 - 13.9% of customers, 22.7% subscription rate; Cluster 1 - 45.1%, 8.8%; Cluster 2 - 29.6%, 9.6%; Cluster 3 - 2.4%, 15.1%; Cluster 4 - 9.0%, 15.3%. Silhouette score 0.17.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results (Accuracy / Precision / Recall / F1): Logistic Regression 89.4% / 68% / 18% / 0.28; Random Forest 88.3% / 50% / 21% / 0.29; Decision Tree 82.4% / 28% / 32% / 0.30; XGBoost 89.0% / 57% / 23% / 0.33; LightGBM 89.4% / 64% / 21% / 0.31; Weighted LightGBM 80.4% / 32% / 61% / 0.42.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45720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4389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ts-adesh/bank-telemarketing-analytics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uter ring"/>
          <p:cNvSpPr/>
          <p:nvPr/>
        </p:nvSpPr>
        <p:spPr>
          <a:xfrm>
            <a:off x="5074920" y="502920"/>
            <a:ext cx="4023360" cy="4023360"/>
          </a:xfrm>
          <a:prstGeom prst="ellipse">
            <a:avLst/>
          </a:prstGeom>
          <a:ln w="19050">
            <a:solidFill>
              <a:schemeClr val="accent2"/>
            </a:solidFill>
            <a:prstDash val="solid"/>
          </a:ln>
        </p:spPr>
      </p:sp>
      <p:sp>
        <p:nvSpPr>
          <p:cNvPr id="3" name="main circle"/>
          <p:cNvSpPr/>
          <p:nvPr/>
        </p:nvSpPr>
        <p:spPr>
          <a:xfrm>
            <a:off x="5532120" y="960120"/>
            <a:ext cx="3108960" cy="3108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accent dot"/>
          <p:cNvSpPr/>
          <p:nvPr/>
        </p:nvSpPr>
        <p:spPr>
          <a:xfrm>
            <a:off x="5577840" y="8229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bank icon" descr="Ba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8308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BUSINESS ANALYTICS CASE STUDY</a:t>
            </a:r>
            <a:endParaRPr lang="en-US" sz="12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12344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Bank Telemarketing Analytics</a:t>
            </a:r>
            <a:endParaRPr lang="en-US" sz="38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548640" y="27432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Customer segmentation and subscription prediction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5204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 explored which customer groups subscribed more often and how prediction models could support campaign planning.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7FC4C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github.com/its-adesh/bank-telemarketing-analytics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The campaign planning question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How could the bank use customer data to prioritise outreach?</a:t>
            </a:r>
            <a:endParaRPr lang="en-US" sz="1400" dirty="0"/>
          </a:p>
        </p:txBody>
      </p:sp>
      <p:sp>
        <p:nvSpPr>
          <p:cNvPr id="4" name="records card"/>
          <p:cNvSpPr/>
          <p:nvPr/>
        </p:nvSpPr>
        <p:spPr>
          <a:xfrm>
            <a:off x="457200" y="146304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records circle"/>
          <p:cNvSpPr/>
          <p:nvPr/>
        </p:nvSpPr>
        <p:spPr>
          <a:xfrm>
            <a:off x="68580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records icon" descr="rec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2033626"/>
            <a:ext cx="321869" cy="3218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691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45,211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records in the analysis</a:t>
            </a:r>
            <a:endParaRPr lang="en-US" sz="1400" dirty="0"/>
          </a:p>
        </p:txBody>
      </p:sp>
      <p:sp>
        <p:nvSpPr>
          <p:cNvPr id="9" name="rate card"/>
          <p:cNvSpPr/>
          <p:nvPr/>
        </p:nvSpPr>
        <p:spPr>
          <a:xfrm>
            <a:off x="457200" y="310896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640080" y="3200400"/>
          <a:ext cx="12801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2103120" y="33375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11.7%</a:t>
            </a:r>
            <a:endParaRPr lang="en-US" sz="4400" dirty="0"/>
          </a:p>
        </p:txBody>
      </p:sp>
      <p:sp>
        <p:nvSpPr>
          <p:cNvPr id="12" name="Text 8"/>
          <p:cNvSpPr txBox="1"/>
          <p:nvPr/>
        </p:nvSpPr>
        <p:spPr>
          <a:xfrm>
            <a:off x="210312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subscribed to a term deposit</a:t>
            </a:r>
            <a:endParaRPr lang="en-US" sz="1400" dirty="0"/>
          </a:p>
        </p:txBody>
      </p:sp>
      <p:sp>
        <p:nvSpPr>
          <p:cNvPr id="13" name="method card 1"/>
          <p:cNvSpPr/>
          <p:nvPr/>
        </p:nvSpPr>
        <p:spPr>
          <a:xfrm>
            <a:off x="4754880" y="146304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52D3B">
                <a:alpha val="12000"/>
              </a:srgbClr>
            </a:outerShdw>
          </a:effectLst>
        </p:spPr>
      </p:sp>
      <p:sp>
        <p:nvSpPr>
          <p:cNvPr id="14" name="grouping circle"/>
          <p:cNvSpPr/>
          <p:nvPr/>
        </p:nvSpPr>
        <p:spPr>
          <a:xfrm>
            <a:off x="498348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grouping icon" descr="group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306" y="2033626"/>
            <a:ext cx="321869" cy="32186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897880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 used customer groups to explore patterns, then compared models to predict subscriptions.</a:t>
            </a:r>
            <a:endParaRPr lang="en-US" sz="1400" dirty="0"/>
          </a:p>
        </p:txBody>
      </p:sp>
      <p:sp>
        <p:nvSpPr>
          <p:cNvPr id="17" name="method card 2"/>
          <p:cNvSpPr/>
          <p:nvPr/>
        </p:nvSpPr>
        <p:spPr>
          <a:xfrm>
            <a:off x="4754880" y="310896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52D3B">
                <a:alpha val="12000"/>
              </a:srgbClr>
            </a:outerShdw>
          </a:effectLst>
        </p:spPr>
      </p:sp>
      <p:sp>
        <p:nvSpPr>
          <p:cNvPr id="18" name="holdout circle"/>
          <p:cNvSpPr/>
          <p:nvPr/>
        </p:nvSpPr>
        <p:spPr>
          <a:xfrm>
            <a:off x="4983480" y="34747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holdout icon" descr="holdou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8306" y="3679546"/>
            <a:ext cx="321869" cy="32186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897880" y="32461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 held out 20% of the data for testing and excluded call duration from the inputs.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Cluster 0 had the highest subscription rate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largest customer group had the lowest rate.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41732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st card"/>
          <p:cNvSpPr/>
          <p:nvPr/>
        </p:nvSpPr>
        <p:spPr>
          <a:xfrm>
            <a:off x="5943600" y="1463040"/>
            <a:ext cx="2743200" cy="178308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sp>
        <p:nvSpPr>
          <p:cNvPr id="6" name="target circle"/>
          <p:cNvSpPr/>
          <p:nvPr/>
        </p:nvSpPr>
        <p:spPr>
          <a:xfrm>
            <a:off x="61264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target icon" descr="targ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099" y="1799539"/>
            <a:ext cx="241402" cy="2414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12280" y="16459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group worth testing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126480" y="22860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 would explore Cluster 0 in a small outreach test before expanding the campaign.</a:t>
            </a:r>
            <a:endParaRPr lang="en-US" sz="1400" dirty="0"/>
          </a:p>
        </p:txBody>
      </p:sp>
      <p:sp>
        <p:nvSpPr>
          <p:cNvPr id="10" name="overlap card"/>
          <p:cNvSpPr/>
          <p:nvPr/>
        </p:nvSpPr>
        <p:spPr>
          <a:xfrm>
            <a:off x="5943600" y="3429000"/>
            <a:ext cx="27432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pic>
        <p:nvPicPr>
          <p:cNvPr id="11" name="info icon" descr="No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56616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37960" y="3566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groups overlap. A silhouette score of 0.17 supports treating them as broad profiles.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Accuracy alone missed the main problem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Predicting “no” for everyone would achieve about 88.3% accuracy.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58521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976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I compared subscriber precision and recall to understand the cost of missed subscribers and incorrect predictions.</a:t>
            </a:r>
            <a:endParaRPr lang="en-US" sz="1200" dirty="0"/>
          </a:p>
        </p:txBody>
      </p:sp>
      <p:sp>
        <p:nvSpPr>
          <p:cNvPr id="6" name="baseline card"/>
          <p:cNvSpPr/>
          <p:nvPr/>
        </p:nvSpPr>
        <p:spPr>
          <a:xfrm>
            <a:off x="6492240" y="1463040"/>
            <a:ext cx="2194560" cy="1554480"/>
          </a:xfrm>
          <a:prstGeom prst="roundRect">
            <a:avLst>
              <a:gd name="adj" fmla="val 7059"/>
            </a:avLst>
          </a:prstGeom>
          <a:solidFill>
            <a:schemeClr val="tx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67512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88.3%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accuracy from predicting “no” for everyone</a:t>
            </a:r>
            <a:endParaRPr lang="en-US" sz="1300" dirty="0"/>
          </a:p>
        </p:txBody>
      </p:sp>
      <p:sp>
        <p:nvSpPr>
          <p:cNvPr id="9" name="best model card"/>
          <p:cNvSpPr/>
          <p:nvPr/>
        </p:nvSpPr>
        <p:spPr>
          <a:xfrm>
            <a:off x="6492240" y="3200400"/>
            <a:ext cx="21945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75120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Weighted LightGBM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63931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Best F1 score: 0.42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Recall 61%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Precision 32%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More subscribers found, more false positives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Class weighting changed the balance of LightGBM predictions.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49377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ecall card"/>
          <p:cNvSpPr/>
          <p:nvPr/>
        </p:nvSpPr>
        <p:spPr>
          <a:xfrm>
            <a:off x="5577840" y="1463040"/>
            <a:ext cx="3108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806440" y="1572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Recall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806440" y="1874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0616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21%</a:t>
            </a:r>
            <a:pPr indent="0" marL="0">
              <a:buNone/>
            </a:pPr>
            <a:r>
              <a:rPr lang="en-US" sz="3600" b="1" dirty="0">
                <a:solidFill>
                  <a:srgbClr val="50616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→  </a:t>
            </a:r>
            <a:pPr indent="0" marL="0">
              <a:buNone/>
            </a:pPr>
            <a:r>
              <a:rPr lang="en-US" sz="3600" b="1" dirty="0">
                <a:solidFill>
                  <a:srgbClr val="087F8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61%</a:t>
            </a:r>
            <a:endParaRPr lang="en-US" sz="3600" dirty="0"/>
          </a:p>
        </p:txBody>
      </p:sp>
      <p:sp>
        <p:nvSpPr>
          <p:cNvPr id="8" name="precision card"/>
          <p:cNvSpPr/>
          <p:nvPr/>
        </p:nvSpPr>
        <p:spPr>
          <a:xfrm>
            <a:off x="5577840" y="2926080"/>
            <a:ext cx="31089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806440" y="3035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Precision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806440" y="3337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0616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64%</a:t>
            </a:r>
            <a:pPr indent="0" marL="0">
              <a:buNone/>
            </a:pPr>
            <a:r>
              <a:rPr lang="en-US" sz="3600" b="1" dirty="0">
                <a:solidFill>
                  <a:srgbClr val="50616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→  </a:t>
            </a:r>
            <a:pPr indent="0" marL="0">
              <a:buNone/>
            </a:pPr>
            <a:r>
              <a:rPr lang="en-US" sz="3600" b="1" dirty="0">
                <a:solidFill>
                  <a:srgbClr val="C77D1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32%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31596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 would choose the threshold around calling capacity and contact costs, then test its value in a campaign.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influenced the predictions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SHAP helps explain the weighted LightGBM model.</a:t>
            </a:r>
            <a:endParaRPr lang="en-US" sz="1400" dirty="0"/>
          </a:p>
        </p:txBody>
      </p:sp>
      <p:sp>
        <p:nvSpPr>
          <p:cNvPr id="4" name="shap frame"/>
          <p:cNvSpPr/>
          <p:nvPr/>
        </p:nvSpPr>
        <p:spPr>
          <a:xfrm>
            <a:off x="457200" y="1417320"/>
            <a:ext cx="329184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52D3B">
                <a:alpha val="12000"/>
              </a:srgbClr>
            </a:outerShdw>
          </a:effectLst>
        </p:spPr>
      </p:sp>
      <p:pic>
        <p:nvPicPr>
          <p:cNvPr id="5" name="SHAP summary chart" descr="SHAP summary plot for the weighted LightGBM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54480"/>
            <a:ext cx="2697480" cy="3154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148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to read the chart</a:t>
            </a:r>
            <a:endParaRPr lang="en-US" sz="2000" dirty="0"/>
          </a:p>
        </p:txBody>
      </p:sp>
      <p:sp>
        <p:nvSpPr>
          <p:cNvPr id="7" name="dot circle"/>
          <p:cNvSpPr/>
          <p:nvPr/>
        </p:nvSpPr>
        <p:spPr>
          <a:xfrm>
            <a:off x="4114800" y="20116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8" name="dot icon" descr="d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2139696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dot represents a customer record.</a:t>
            </a:r>
            <a:endParaRPr lang="en-US" sz="1400" dirty="0"/>
          </a:p>
        </p:txBody>
      </p:sp>
      <p:sp>
        <p:nvSpPr>
          <p:cNvPr id="10" name="right circle"/>
          <p:cNvSpPr/>
          <p:nvPr/>
        </p:nvSpPr>
        <p:spPr>
          <a:xfrm>
            <a:off x="4114800" y="2606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right icon" descr="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27340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754880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Right: pushes the prediction towards subscription.</a:t>
            </a:r>
            <a:endParaRPr lang="en-US" sz="1400" dirty="0"/>
          </a:p>
        </p:txBody>
      </p:sp>
      <p:sp>
        <p:nvSpPr>
          <p:cNvPr id="13" name="left circle"/>
          <p:cNvSpPr/>
          <p:nvPr/>
        </p:nvSpPr>
        <p:spPr>
          <a:xfrm>
            <a:off x="4114800" y="320040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4" name="left icon" descr="lef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332841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754880" y="3200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Left: pushes it away.</a:t>
            </a:r>
            <a:endParaRPr lang="en-US" sz="1400" dirty="0"/>
          </a:p>
        </p:txBody>
      </p:sp>
      <p:sp>
        <p:nvSpPr>
          <p:cNvPr id="16" name="caution card"/>
          <p:cNvSpPr/>
          <p:nvPr/>
        </p:nvSpPr>
        <p:spPr>
          <a:xfrm>
            <a:off x="4114800" y="3840480"/>
            <a:ext cx="45720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pic>
        <p:nvPicPr>
          <p:cNvPr id="17" name="caution icon" descr="Cau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4114800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800600" y="3931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These patterns explain the model. They do not establish cause and effect.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small campaign test is the next step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 recommend comparing targeted outreach with the usual approach.</a:t>
            </a:r>
            <a:endParaRPr lang="en-US" sz="1400" dirty="0"/>
          </a:p>
        </p:txBody>
      </p:sp>
      <p:sp>
        <p:nvSpPr>
          <p:cNvPr id="4" name="flow line"/>
          <p:cNvSpPr/>
          <p:nvPr/>
        </p:nvSpPr>
        <p:spPr>
          <a:xfrm>
            <a:off x="1417320" y="2057400"/>
            <a:ext cx="63093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5" name="step card 01"/>
          <p:cNvSpPr/>
          <p:nvPr/>
        </p:nvSpPr>
        <p:spPr>
          <a:xfrm>
            <a:off x="457200" y="2377440"/>
            <a:ext cx="1920240" cy="21488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6" name="step circle 01"/>
          <p:cNvSpPr/>
          <p:nvPr/>
        </p:nvSpPr>
        <p:spPr>
          <a:xfrm>
            <a:off x="1097280" y="173736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5420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Set the comparison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2004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comparable customer pools and equal contact budgets.</a:t>
            </a:r>
            <a:endParaRPr lang="en-US" sz="1400" dirty="0"/>
          </a:p>
        </p:txBody>
      </p:sp>
      <p:sp>
        <p:nvSpPr>
          <p:cNvPr id="10" name="step card 02"/>
          <p:cNvSpPr/>
          <p:nvPr/>
        </p:nvSpPr>
        <p:spPr>
          <a:xfrm>
            <a:off x="2560320" y="2377440"/>
            <a:ext cx="1920240" cy="21488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1" name="step circle 02"/>
          <p:cNvSpPr/>
          <p:nvPr/>
        </p:nvSpPr>
        <p:spPr>
          <a:xfrm>
            <a:off x="3200400" y="173736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5420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Run the test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32004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model-based targeting with the usual approach.</a:t>
            </a:r>
            <a:endParaRPr lang="en-US" sz="1400" dirty="0"/>
          </a:p>
        </p:txBody>
      </p:sp>
      <p:sp>
        <p:nvSpPr>
          <p:cNvPr id="15" name="step card 03"/>
          <p:cNvSpPr/>
          <p:nvPr/>
        </p:nvSpPr>
        <p:spPr>
          <a:xfrm>
            <a:off x="4663440" y="2377440"/>
            <a:ext cx="1920240" cy="21488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step circle 03"/>
          <p:cNvSpPr/>
          <p:nvPr/>
        </p:nvSpPr>
        <p:spPr>
          <a:xfrm>
            <a:off x="5303520" y="173736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5420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Measure results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2004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Track subscriptions gained and cost per subscription.</a:t>
            </a:r>
            <a:endParaRPr lang="en-US" sz="1400" dirty="0"/>
          </a:p>
        </p:txBody>
      </p:sp>
      <p:sp>
        <p:nvSpPr>
          <p:cNvPr id="20" name="step card 04"/>
          <p:cNvSpPr/>
          <p:nvPr/>
        </p:nvSpPr>
        <p:spPr>
          <a:xfrm>
            <a:off x="6766560" y="2377440"/>
            <a:ext cx="1920240" cy="21488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1" name="step circle 04"/>
          <p:cNvSpPr/>
          <p:nvPr/>
        </p:nvSpPr>
        <p:spPr>
          <a:xfrm>
            <a:off x="7406640" y="1737360"/>
            <a:ext cx="640080" cy="64008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066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5420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Decide whether to expand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20040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Expand only if the results meet the agreed business target.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My recommendation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analysis supports a focused pilot before wider use.</a:t>
            </a:r>
            <a:endParaRPr lang="en-US" sz="1400" dirty="0"/>
          </a:p>
        </p:txBody>
      </p:sp>
      <p:sp>
        <p:nvSpPr>
          <p:cNvPr id="4" name="recommendation card 1"/>
          <p:cNvSpPr/>
          <p:nvPr/>
        </p:nvSpPr>
        <p:spPr>
          <a:xfrm>
            <a:off x="457200" y="160020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accent2"/>
          </a:solidFill>
          <a:ln/>
        </p:spPr>
      </p:sp>
      <p:sp>
        <p:nvSpPr>
          <p:cNvPr id="5" name="Customer targeting circle"/>
          <p:cNvSpPr/>
          <p:nvPr/>
        </p:nvSpPr>
        <p:spPr>
          <a:xfrm>
            <a:off x="731520" y="18745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ustomer targeting icon" descr="Customer targe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" y="2092147"/>
            <a:ext cx="341986" cy="3419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8346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Customer targeting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33756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Explore the group with the highest historical subscription rate.</a:t>
            </a:r>
            <a:endParaRPr lang="en-US" sz="1400" dirty="0"/>
          </a:p>
        </p:txBody>
      </p:sp>
      <p:sp>
        <p:nvSpPr>
          <p:cNvPr id="9" name="recommendation card 2"/>
          <p:cNvSpPr/>
          <p:nvPr/>
        </p:nvSpPr>
        <p:spPr>
          <a:xfrm>
            <a:off x="3268980" y="160020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accent2"/>
          </a:solidFill>
          <a:ln/>
        </p:spPr>
      </p:sp>
      <p:sp>
        <p:nvSpPr>
          <p:cNvPr id="10" name="Model selection circle"/>
          <p:cNvSpPr/>
          <p:nvPr/>
        </p:nvSpPr>
        <p:spPr>
          <a:xfrm>
            <a:off x="3543300" y="18745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Model selection icon" descr="Model sele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927" y="2092147"/>
            <a:ext cx="341986" cy="3419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8346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Model selection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333756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Match the threshold to calling capacity and validate on newer data.</a:t>
            </a:r>
            <a:endParaRPr lang="en-US" sz="1400" dirty="0"/>
          </a:p>
        </p:txBody>
      </p:sp>
      <p:sp>
        <p:nvSpPr>
          <p:cNvPr id="14" name="recommendation card 3"/>
          <p:cNvSpPr/>
          <p:nvPr/>
        </p:nvSpPr>
        <p:spPr>
          <a:xfrm>
            <a:off x="6080760" y="160020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accent2"/>
          </a:solidFill>
          <a:ln/>
        </p:spPr>
      </p:sp>
      <p:sp>
        <p:nvSpPr>
          <p:cNvPr id="15" name="Business impact circle"/>
          <p:cNvSpPr/>
          <p:nvPr/>
        </p:nvSpPr>
        <p:spPr>
          <a:xfrm>
            <a:off x="6355080" y="18745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Business impact icon" descr="Business impa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707" y="2092147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8346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Business impact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333756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Use the campaign test to measure value before claiming savings.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Supporting result: ROC curve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Weighted LightGBM achieved a ROC-AUC score of 0.7752.</a:t>
            </a:r>
            <a:endParaRPr lang="en-US" sz="1400" dirty="0"/>
          </a:p>
        </p:txBody>
      </p:sp>
      <p:sp>
        <p:nvSpPr>
          <p:cNvPr id="4" name="roc frame"/>
          <p:cNvSpPr/>
          <p:nvPr/>
        </p:nvSpPr>
        <p:spPr>
          <a:xfrm>
            <a:off x="457200" y="1417320"/>
            <a:ext cx="338328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52D3B">
                <a:alpha val="12000"/>
              </a:srgbClr>
            </a:outerShdw>
          </a:effectLst>
        </p:spPr>
      </p:sp>
      <p:pic>
        <p:nvPicPr>
          <p:cNvPr id="5" name="ROC curve" descr="ROC curve for the weighted LightGBM model, AUC 0.7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27048"/>
            <a:ext cx="3108960" cy="31575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206240" y="14173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0.7752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2240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ROC-AUC, weighted LightGBM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2697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measure of ranking quality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1089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curve shows the balance between identifying subscribers and incorrectly flagging non-subscribers across thresholds.</a:t>
            </a:r>
            <a:endParaRPr lang="en-US" sz="1400" dirty="0"/>
          </a:p>
        </p:txBody>
      </p:sp>
      <p:sp>
        <p:nvSpPr>
          <p:cNvPr id="10" name="decision card"/>
          <p:cNvSpPr/>
          <p:nvPr/>
        </p:nvSpPr>
        <p:spPr>
          <a:xfrm>
            <a:off x="4206240" y="3931920"/>
            <a:ext cx="448056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pic>
        <p:nvPicPr>
          <p:cNvPr id="11" name="balance icon" descr="Trade-of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41879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46320" y="39776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business decision still depends on contact costs and capacity.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nk Analytics">
  <a:themeElements>
    <a:clrScheme name="Bank Analytics">
      <a:dk1>
        <a:srgbClr val="152D3B"/>
      </a:dk1>
      <a:lt1>
        <a:srgbClr val="FFFFFF"/>
      </a:lt1>
      <a:dk2>
        <a:srgbClr val="50616B"/>
      </a:dk2>
      <a:lt2>
        <a:srgbClr val="E7F1EF"/>
      </a:lt2>
      <a:accent1>
        <a:srgbClr val="087F83"/>
      </a:accent1>
      <a:accent2>
        <a:srgbClr val="1F4257"/>
      </a:accent2>
      <a:accent3>
        <a:srgbClr val="F2A541"/>
      </a:accent3>
      <a:accent4>
        <a:srgbClr val="7FC4C2"/>
      </a:accent4>
      <a:accent5>
        <a:srgbClr val="B8C7CE"/>
      </a:accent5>
      <a:accent6>
        <a:srgbClr val="8FA3AD"/>
      </a:accent6>
      <a:hlink>
        <a:srgbClr val="087F83"/>
      </a:hlink>
      <a:folHlink>
        <a:srgbClr val="50616B"/>
      </a:folHlink>
    </a:clrScheme>
    <a:fontScheme name="Bank Analyt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Telemarketing Analytics</dc:title>
  <dc:subject>PptxGenJS Presentation</dc:subject>
  <dc:creator>PptxGenJS</dc:creator>
  <cp:lastModifiedBy>PptxGenJS</cp:lastModifiedBy>
  <cp:revision>1</cp:revision>
  <dcterms:created xsi:type="dcterms:W3CDTF">2026-10-07T02:32:45Z</dcterms:created>
  <dcterms:modified xsi:type="dcterms:W3CDTF">2026-10-07T02:32:45Z</dcterms:modified>
</cp:coreProperties>
</file>